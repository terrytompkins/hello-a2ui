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Today we'll explore how AI applications are evolving from "text-only responses" to "agent-driven interfaces" where the assistant can generate UI, not just language. We'll use our Pet Coach A2UI demo as the central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`AI tools like ChatGPT and Copilot have made us used to text-based interaction. But that creates unnecessary friction for structured tasks. Why ask 4 follow-up questions when a form could capture everything in one step?`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evolving from a Q&amp;A machine to an interface driver. The shift from conversational AI to agentic UI is the next frontier -- and that's what A2UI is all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`A2UI stands for Agent-to-User Interface. The core idea: instead of the AI returning only text, it returns a JSON envelope that includes both text and an optional UI payload. The frontend maps that payload to real components using a trusted registry.`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`Walk through each step. The key insight is step 3 -- the A2UIRenderer acts as a trust gate. It only renders known component types. If the AI returns an unknown type, it shows a graceful fallback card instead of executing anything.`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Pet Coach app is a teaching tool. Everything is deliberate: the split-mode toggle lets you compare experiences side by side, and the Protocol Inspector shows raw JSON so participants can see exactly what's being exchanged.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`The contrast is stark. Text-only requires 7+ message exchanges to schedule one appointment. A2UI reduces it to 2 messages plus a single form submission. Same outcome, dramatically less friction.`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scheduling form is populated with the pet's name and a pre-filled reason from the AI. The user only needs to pick a date and time, then hit Confirm. The event payload goes back to the API which saves it to SQLite and returns a confirmation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text-only response is perfectly accurate, but it requires the user to parse a paragraph of numbers to understand Luna's health status. The range bar visualization makes the HIGH AST and LOW RBC immediately apparent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`These two components illustrate structured data capture (checklist) and action-oriented UX (medication card). The medication card lets users request a refill, ask the vet a question, or report a side effect -- all triggering structured events back to the server.`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Protocol Inspector in the actual app here. Point out: the "type" field is the trust gate key. The messageId links the event back to the response. The payload contains structured, validated data -- not free-form text. The app's deterministic logic handles the actual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a standard Next.js app with one key addition: the A2UIRenderer as a trust gate on the client side, and the chatService which switches between JSON mode and standard mode based on the toggle. SQLite holds real seeded data for Luna's pet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`These four principles are what make A2UI safe and practical for enterprise use. Emphasis on #2 (Trust Gate) and #4 (Hybrid Logic) -- the AI is a smart router and context provider, not an unbounded executor.`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your team's actual context. Where do you have AI-assisted workflows that still rely on back-and-forth text conversations? Those are candidates for A2UI. Internal helpdesks, onboarding assistants, data exploration tools, approval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at the beginning of this shift. The Pet Coach demo is a simple but complete example. Production applications could have dozens of trusted components, multi-agent coordination, and deeply integrated enterprise data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`Live demo time! Follow the steps listed. The key teaching moment is step 3 -- showing the Protocol Inspector with the actual JSON payload. Make sure the app is running at localhost:3000 before the session.`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call to action: think about one workflow on your team that currently relies on text-only AI interaction. Could it benefit from an inline form or a visualization? That's your A2UI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8288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2560320"/>
            <a:ext cx="914400" cy="914400"/>
          </a:xfrm>
          <a:prstGeom prst="ellipse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2926080"/>
            <a:ext cx="548640" cy="54864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64008" cy="3108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60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Chat to Interface: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A2UI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Coach Demo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4114800" cy="27432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Tompkins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12, 2026  ·  Promptly at 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apps mostly respond with text -- but users often need more.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conversation today forces the user to stay in "text mode" -- even when the task clearly calls for a form, a table, or a visual.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friction. Users type multi-turn answers to questions that a simple UI could resolve in one click.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64008" cy="1737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Chat-Only Experience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1325880"/>
            <a:ext cx="3200400" cy="228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32588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book a follow-up for Luna.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572768"/>
            <a:ext cx="3200400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5727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like? Morning or afternoon?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1819656"/>
            <a:ext cx="3200400" cy="228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81965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please.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066544"/>
            <a:ext cx="3200400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06654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 works best?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724912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724912"/>
            <a:ext cx="64008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70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A2UI Experience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13639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book a follow-up for Luna.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3108960"/>
            <a:ext cx="310896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108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book a follow-up for Luna.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401568"/>
            <a:ext cx="384048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47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Schedule Appointment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712464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7124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Apr 15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3712464"/>
            <a:ext cx="1645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7124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2:00 PM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01000" y="4160520"/>
            <a:ext cx="640080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4160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C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 in AI UX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474720" cy="324612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34747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Answering Questions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User asks a question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AI returns a text answer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User reads and responds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Multiple turns to complete tasks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User must interpret and act manually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77640" y="2377440"/>
            <a:ext cx="11887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5303520" y="822960"/>
            <a:ext cx="3474720" cy="3246120"/>
          </a:xfrm>
          <a:prstGeom prst="rect">
            <a:avLst/>
          </a:prstGeom>
          <a:solidFill>
            <a:srgbClr val="0D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822960"/>
            <a:ext cx="34747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Driving Workflows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178308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User states a goal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AI returns text + structured UI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UI renders inline -- instantly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User completes task in one step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Event flows back to continue session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"AI that can speak interface -- not just language"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A2UI?   Agent-to-User Interface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A2UI = Agent-to-User Interface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returns structured UI (JSON) instead of just text -- and the client renders it using trusted components.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92024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057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920240"/>
            <a:ext cx="192024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2057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mode)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1920240" cy="1371600"/>
          </a:xfrm>
          <a:prstGeom prst="rect">
            <a:avLst/>
          </a:prstGeom>
          <a:solidFill>
            <a:srgbClr val="0D2D4A"/>
          </a:solidFill>
          <a:ln w="1270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2057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{ text + UI JSON 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45152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envelope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920240"/>
            <a:ext cx="192024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3992" y="2057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Rendered UI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93992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331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343400" y="2331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92240" y="2331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5387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Trusted Components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never runs AI code -- only renders pre-approved components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4747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47472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35387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Declarative JSON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56432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data structures, not executable instructions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47472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47472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5387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Two-Way Protocol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82512" y="38587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events flow back to the model for continuation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A2UI Works -- The Protocol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051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Sends Request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message sent to Chat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15087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51560"/>
            <a:ext cx="502920" cy="502920"/>
          </a:xfrm>
          <a:prstGeom prst="ellipse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1051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Returns Response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161848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envelope: { text, a2ui: { type, data } 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5087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80760" y="914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51560"/>
            <a:ext cx="502920" cy="502920"/>
          </a:xfrm>
          <a:prstGeom prst="ellipse">
            <a:avLst/>
          </a:prstGeom>
          <a:solidFill>
            <a:srgbClr val="0D5070"/>
          </a:solidFill>
          <a:ln w="12700">
            <a:solidFill>
              <a:srgbClr val="0D5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1051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Renders Inline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61848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A2UIRenderer maps type → trusted React component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076050"/>
          </a:solidFill>
          <a:ln w="12700">
            <a:solidFill>
              <a:srgbClr val="076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Interacts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58444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form, clicks action, checks items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71800" y="34747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3017520"/>
            <a:ext cx="502920" cy="502920"/>
          </a:xfrm>
          <a:prstGeom prst="ellipse">
            <a:avLst/>
          </a:prstGeom>
          <a:solidFill>
            <a:srgbClr val="1A6040"/>
          </a:solidFill>
          <a:ln w="12700">
            <a:solidFill>
              <a:srgbClr val="1A6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Sent Back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37560" y="358444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UIEventEnvelope POST to /api/ui-event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34747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608076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rgbClr val="0A4030"/>
          </a:solidFill>
          <a:ln w="12700">
            <a:solidFill>
              <a:srgbClr val="0A4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12280" y="3017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Responds Again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17920" y="3584448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or next-step message appended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 Coach Demo -- Application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veterinary follow-up assistant for Luna 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Owner Alex asks about Luna (Golden Retriever, 3 yrs)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Real bloodwork data via SQLite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Two modes: Text Only vs A2UI Enabled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Inline UI rendering directly in chat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Built-in Protocol Inspector for teaching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291840"/>
            <a:ext cx="64008" cy="1325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🐶  Luna's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Retriever  ·  3 years  ·  Owner: Alex Johnson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diagnostic tests  ·  2 active medications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React 19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(JSON mode)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2064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diagnostic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6288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accessible 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56616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81728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2064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Renderer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81728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component registry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76288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1520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Inspector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288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payloads visible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Comparison: Text Only vs A2UI Enabled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TEXT ONLY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822960"/>
            <a:ext cx="3931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A2UI ENABLED MODE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393192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298448"/>
            <a:ext cx="178308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129844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book Luna's follow-up.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17830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60020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course! What day works for you?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0" y="1901952"/>
            <a:ext cx="178308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190195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Tuesday afternoon?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203704"/>
            <a:ext cx="17830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20370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Great. What time -- 2pm or 4pm?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0" y="2505456"/>
            <a:ext cx="178308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2505456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2pm please.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807208"/>
            <a:ext cx="17830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80720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what's the reason for the visit?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3108960"/>
            <a:ext cx="178308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40864" y="310896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bloodwork.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410712"/>
            <a:ext cx="17830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41071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it, I'll pass that along. Anything else?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exchanges for one booking)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1234440"/>
            <a:ext cx="3931920" cy="3383280"/>
          </a:xfrm>
          <a:prstGeom prst="rect">
            <a:avLst/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1298448"/>
            <a:ext cx="178308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129844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book Luna's follow-up.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0" y="1600200"/>
            <a:ext cx="17830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160020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help! Please fill out the form below: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1938528"/>
            <a:ext cx="36576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1938528"/>
            <a:ext cx="36576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Schedule Appointment -- Luna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2377440"/>
            <a:ext cx="23317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377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15,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2697480"/>
            <a:ext cx="23317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6974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017520"/>
            <a:ext cx="23317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0175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bloodwork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60920" y="4114800"/>
            <a:ext cx="118872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4114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92040" y="448056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exchanges + 1 form submit)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1: Appointment Scheduling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Chat-Only Flow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"I need to schedule a follow-up"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"What day works for you?"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48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"Tuesday afternoon"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"What time? 2pm or 4pm?"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"2pm"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90672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"What's the reason for the visit?"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38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"Follow-up bloodwork"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3840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"Any notes or questions?"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69664"/>
            <a:ext cx="384048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9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conversation turns before booking completes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A2UI Form -- Rendered Inline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1325880"/>
            <a:ext cx="41148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325880"/>
            <a:ext cx="41148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Schedule Appointment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Name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1810512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1810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212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212848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22128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April 15,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6151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2615184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2:00 PM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3017520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08192" y="3017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bloodwork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3419856"/>
            <a:ext cx="27432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4198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was lethargic after last visit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89520" y="4142232"/>
            <a:ext cx="11430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41422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2: Diagnostic Visualization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Text-Only Response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"Luna's latest bloodwork from April 2nd shows mostly normal values. Her ALT was 78 U/L (within normal 10-100 range). However, her AST came back elevated at 112 U/L, which is above the normal range of 15-66 U/L. Her RBC is also a bit low at 3.1 M/μL compared to the normal 4.8-9.3 range. WBC, BUN, creatinine, and glucose are all within expected parameters. I would recommend a follow-up with your vet to discuss the AST and RBC values."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A2UI Range Bars -- Instant Comprehension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141732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Luna's Bloodwork  ·  April 2,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013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1801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 U/L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837944"/>
            <a:ext cx="155448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559" y="1837944"/>
            <a:ext cx="1249136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7486" y="1810512"/>
            <a:ext cx="109728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8432" y="1801368"/>
            <a:ext cx="658368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801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23042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2304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 U/L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340864"/>
            <a:ext cx="155448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2737" y="2340864"/>
            <a:ext cx="712936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43850" y="2313432"/>
            <a:ext cx="109728" cy="2103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2304288"/>
            <a:ext cx="658368" cy="219456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2304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28072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2807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14.2 K/μL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843784"/>
            <a:ext cx="155448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81552" y="2843784"/>
            <a:ext cx="1160813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6279" y="2816352"/>
            <a:ext cx="109728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8432" y="2807208"/>
            <a:ext cx="658368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2807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33101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3310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M/μL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346704"/>
            <a:ext cx="155448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6283" y="3346704"/>
            <a:ext cx="805894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6970" y="3319272"/>
            <a:ext cx="109728" cy="2103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28432" y="3310128"/>
            <a:ext cx="658368" cy="219456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8432" y="3310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63440" y="38130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0680" y="3813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 mg/dL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3849624"/>
            <a:ext cx="1554480" cy="1554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99365" y="3849624"/>
            <a:ext cx="964458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1631" y="3822192"/>
            <a:ext cx="109728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28432" y="3813048"/>
            <a:ext cx="658368" cy="2194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28432" y="38130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436168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436168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23560" y="4361688"/>
            <a:ext cx="109728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79008" y="4361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00800" y="4361688"/>
            <a:ext cx="109728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56248" y="4361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3: Structured Intake &amp; Action Cards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Post-Visit Care Checklist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Post-Visit Care Checklist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Luna for the next 5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374904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11680"/>
            <a:ext cx="1499616" cy="12801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67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 complete  (40%)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256032" cy="256032"/>
          </a:xfrm>
          <a:prstGeom prst="rect">
            <a:avLst/>
          </a:prstGeom>
          <a:solidFill>
            <a:srgbClr val="06D6A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423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medication with food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16352"/>
            <a:ext cx="256032" cy="256032"/>
          </a:xfrm>
          <a:prstGeom prst="rect">
            <a:avLst/>
          </a:prstGeom>
          <a:solidFill>
            <a:srgbClr val="06D6A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816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appetite levels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09544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2095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surgical site daily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0273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6027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physical activity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95928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995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follow-up call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71800" y="4370832"/>
            <a:ext cx="129844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43708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Medication Action Card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325880"/>
            <a:ext cx="402336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32588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Medication 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Carprofen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560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daily with food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926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Fill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10,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remaining ⚠️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703320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3794760"/>
            <a:ext cx="11887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794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Refill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3794760"/>
            <a:ext cx="10972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794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Vet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0" y="3794760"/>
            <a:ext cx="137160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3794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Side Effect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4187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Luna  ·  Owner: Alex Johnson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E1A"/>
          </a:solidFill>
          <a:ln w="12700">
            <a:solidFill>
              <a:srgbClr val="07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Hood: Real Payloads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not magic -- it's a protocol."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42062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Response (a2ui payload)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206240" cy="336499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61872"/>
            <a:ext cx="39867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"Happy to help! Please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fill out the form below.",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"a2ui":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"scheduling_form",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"messageId": "msg_ABC123",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"data":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"petName": "Luna",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"prefillReason":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"Follow-up bloodwork"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886968"/>
            <a:ext cx="4206240" cy="320040"/>
          </a:xfrm>
          <a:prstGeom prst="rect">
            <a:avLst/>
          </a:prstGeom>
          <a:solidFill>
            <a:srgbClr val="1A4030"/>
          </a:solidFill>
          <a:ln w="12700">
            <a:solidFill>
              <a:srgbClr val="1A4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86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Event (user interaction)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07008"/>
            <a:ext cx="4206240" cy="336499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61872"/>
            <a:ext cx="398678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"messageId": "msg_ABC123",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"componentId": "scheduling_form",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"eventType": "submit",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"payload":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"petName": "Luna",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"preferredDate":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"2026-04-15",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"preferredTime": "2:00 PM",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"reason":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"Follow-up bloodwork",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"notes": "Luna was tired"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"2026-04-12T10:35:00Z"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85953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869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 (Next.js React App)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10312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23444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ChatContainer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ChatMessage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210312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23444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SuggestedPrompts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2103120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23444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A2UIRenderer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(Trust Gate)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1234440"/>
            <a:ext cx="210312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123444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ProtocolInspector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Viewer)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HTTP / Streaming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859536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042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Server (API Routes)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21031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 Handler)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2651760"/>
            <a:ext cx="21031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chatService.ts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Integration)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651760"/>
            <a:ext cx="21031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/api/ui-event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Handler)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2651760"/>
            <a:ext cx="2103120" cy="68580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651760"/>
            <a:ext cx="1956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lib/db.ts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 Queries)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0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API calls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SQL queries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685032"/>
            <a:ext cx="3200400" cy="685800"/>
          </a:xfrm>
          <a:prstGeom prst="rect">
            <a:avLst/>
          </a:prstGeom>
          <a:solidFill>
            <a:srgbClr val="0F20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68503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(JSON mode)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3685032"/>
            <a:ext cx="3200400" cy="685800"/>
          </a:xfrm>
          <a:prstGeom prst="rect">
            <a:avLst/>
          </a:prstGeom>
          <a:solidFill>
            <a:srgbClr val="FEFCE8"/>
          </a:solidFill>
          <a:ln w="19050">
            <a:solidFill>
              <a:srgbClr val="FDE0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685032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SQLite 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· Diagnostics · Medications · Appointments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Principles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6400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078992"/>
            <a:ext cx="502920" cy="502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097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 UI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" y="1627632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7099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returns a data structure describing what should be shown -- not code to execute. Like HTML vs JavaScript -- the model specifies intent, the app decides how to render.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64008" cy="1737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1078992"/>
            <a:ext cx="502920" cy="502920"/>
          </a:xfrm>
          <a:prstGeom prst="ellipse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097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Component Catalog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19472" y="1627632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7099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maintains a hard-coded registry of approved components. Unknown AI-generated types are rejected with a graceful fallback -- the LLM cannot inject arbitrary UI.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2999232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Inspectable System Behavior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" y="3547872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6301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request, response, and event is logged and visible in the Protocol Inspector. The system is fully observable -- no black boxes, no hidden behavior.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34640"/>
            <a:ext cx="64008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2999232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AI + Deterministic Logic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919472" y="3547872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301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*what* UI to show and provides *context*. The application handles the actual actions (saving appointments, processing events) with deterministic, tested code.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Important for 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can we apply A2UI patterns in our work?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89888"/>
            <a:ext cx="416052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38988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Internal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Replace multi-turn chatbots with inline action forms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Approval workflows triggered by AI context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Status dashboards rendered from AI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38988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89888"/>
            <a:ext cx="41605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38988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Workflow Automation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AI initiates structured multi-step processes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Handoffs to humans use rendered UI, not prose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52374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Event-driven continuation of agent sessions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27248"/>
            <a:ext cx="4160520" cy="38404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2724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Data-Heavy Applications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Lab results, metrics, KPIs shown visually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AI explains data; UI makes it comprehensible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2611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Range bars, charts, and tables instead of paragraphs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27248"/>
            <a:ext cx="416052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12724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Reduced Friction in User Flows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66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Fewer screens, faster task completion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9136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Context-aware UI appears exactly when needed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2611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Users stay in the conversation -- no context switching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This Goes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12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A2UI pattern opens the door to a new generation of AI-native interfaces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4160520" cy="1600200"/>
          </a:xfrm>
          <a:prstGeom prst="rect">
            <a:avLst/>
          </a:prstGeom>
          <a:solidFill>
            <a:srgbClr val="1A32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4160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1612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Canvas / Workbench UI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82496"/>
            <a:ext cx="3840480" cy="18288"/>
          </a:xfrm>
          <a:prstGeom prst="rect">
            <a:avLst/>
          </a:prstGeom>
          <a:solidFill>
            <a:srgbClr val="2A4270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stateful interfaces that evolve alongside the conversation. Think interactive documents co-authored with AI.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4160520" cy="1600200"/>
          </a:xfrm>
          <a:prstGeom prst="rect">
            <a:avLst/>
          </a:prstGeom>
          <a:solidFill>
            <a:srgbClr val="1A326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24128"/>
            <a:ext cx="41605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11612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Multi-Step Agent Workflows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682496"/>
            <a:ext cx="3840480" cy="18288"/>
          </a:xfrm>
          <a:prstGeom prst="rect">
            <a:avLst/>
          </a:prstGeom>
          <a:solidFill>
            <a:srgbClr val="2A4270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739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UI interactions that span multiple turns -- wizards, guided processes, and structured data collection pipelines.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07208"/>
            <a:ext cx="4160520" cy="1600200"/>
          </a:xfrm>
          <a:prstGeom prst="rect">
            <a:avLst/>
          </a:prstGeom>
          <a:solidFill>
            <a:srgbClr val="1A32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07208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29443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Orchestration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65576"/>
            <a:ext cx="3840480" cy="18288"/>
          </a:xfrm>
          <a:prstGeom prst="rect">
            <a:avLst/>
          </a:prstGeom>
          <a:solidFill>
            <a:srgbClr val="2A4270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5701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multiple specialized agents whose outputs drive different UI components in a unified workspace.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807208"/>
            <a:ext cx="4160520" cy="1600200"/>
          </a:xfrm>
          <a:prstGeom prst="rect">
            <a:avLst/>
          </a:prstGeom>
          <a:solidFill>
            <a:srgbClr val="1A326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807208"/>
            <a:ext cx="41605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29443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System Integration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465576"/>
            <a:ext cx="3840480" cy="18288"/>
          </a:xfrm>
          <a:prstGeom prst="rect">
            <a:avLst/>
          </a:prstGeom>
          <a:solidFill>
            <a:srgbClr val="2A4270"/>
          </a:solidFill>
          <a:ln w="12700">
            <a:solidFill>
              <a:srgbClr val="2A42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55701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as the presentation layer for AI that reaches into ERP, CRM, ITSM, and other enterprise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3657600" cy="3657600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See It in Action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Walkthrough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256032" cy="25603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90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in Text Only -- ask to schedule Luna's follow-up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256032" cy="25603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935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Switch to A2UI Enabled -- same request, form appears instantly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256032" cy="25603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96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 Protocol Inspector → see the raw a2ui payload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3154680"/>
            <a:ext cx="256032" cy="25603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090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the form → inspect the UIEventEnvelope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657600"/>
            <a:ext cx="256032" cy="25603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5935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Ask about Luna's bloodwork → range bars appear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4160520"/>
            <a:ext cx="256032" cy="25603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4096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Ask about medications → medication action card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Promptly at 9  ·  Pet Coach A2UI Demo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841248"/>
          </a:xfrm>
          <a:prstGeom prst="rect">
            <a:avLst/>
          </a:prstGeom>
          <a:solidFill>
            <a:srgbClr val="1A32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8813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987552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moving beyond 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353312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frontier is agent-driven UI -- the model orchestrates interfaces, not just sentences.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8503920" cy="841248"/>
          </a:xfrm>
          <a:prstGeom prst="rect">
            <a:avLst/>
          </a:prstGeom>
          <a:solidFill>
            <a:srgbClr val="1A326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01952"/>
            <a:ext cx="64008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75688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197510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A2UI enables richer 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2340864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visualizations, and action cards replace back-and-forth conversation for structured tasks.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8503920" cy="841248"/>
          </a:xfrm>
          <a:prstGeom prst="rect">
            <a:avLst/>
          </a:prstGeom>
          <a:solidFill>
            <a:srgbClr val="1A32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89504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92" y="2962656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UI improves efficiency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3328416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turns, faster completion, better data quality. The Pet Coach demo shows it concretely.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77056"/>
            <a:ext cx="8503920" cy="841248"/>
          </a:xfrm>
          <a:prstGeom prst="rect">
            <a:avLst/>
          </a:prstGeom>
          <a:solidFill>
            <a:srgbClr val="1A326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877056"/>
            <a:ext cx="64008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5079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8992" y="3950208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pattern is highly applicable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8992" y="4315968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tools, data apps, workflow automation -- A2UI is practical and safe for enterprise today.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Questions?  ·  Promptly at 9  ·  April 12,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Chat to Interface: Introducing A2UI</dc:title>
  <dc:subject>PptxGenJS Presentation</dc:subject>
  <dc:creator>Terry Tompkins</dc:creator>
  <cp:lastModifiedBy>Terry Tompkins</cp:lastModifiedBy>
  <cp:revision>1</cp:revision>
  <dcterms:created xsi:type="dcterms:W3CDTF">2026-04-12T20:25:01Z</dcterms:created>
  <dcterms:modified xsi:type="dcterms:W3CDTF">2026-04-12T20:25:01Z</dcterms:modified>
</cp:coreProperties>
</file>